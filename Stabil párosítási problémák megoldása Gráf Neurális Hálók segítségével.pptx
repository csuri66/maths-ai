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4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Century Schoolbook" panose="02040604050505020304" pitchFamily="18" charset="0"/>
      <p:regular r:id="rId13"/>
    </p:embeddedFont>
    <p:embeddedFont>
      <p:font typeface="Wingdings 2" panose="05020102010507070707" pitchFamily="18" charset="2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D4AF-88E6-45A0-97CA-E5DDCB28F710}" type="datetimeFigureOut">
              <a:rPr lang="hu-HU" smtClean="0"/>
              <a:t>2026. 05. 21.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AF18E1-1552-4999-9AF3-3389D7A2DF3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5163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AEFAA9E-4CC1-4399-9C74-F62877F26F7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C05C8-AB3D-41D5-AEE9-1CF927398D3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33021-B8CB-4B93-A94D-485539C85DE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A9E15-7633-4F40-A710-06BF96252FF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7E036-6175-4002-9D6B-59DE7B735A7B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B63A2-78A4-46F7-ADBE-296FB25D46B5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DA218-6303-4099-A4CD-F50DC246E75A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AFB7-535D-454F-A671-21258FEA567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EDE47-F912-45B9-B860-A6866C2B2A3D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D77CE-9436-4679-933A-F0821800F24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F2039-478C-443D-8D25-858C229F8D9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0DA0CB8-DC28-4631-81E7-9BC2051BB1CC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28E19-987B-834B-D446-98F8B4132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8355" y="241367"/>
            <a:ext cx="9418320" cy="4041648"/>
          </a:xfrm>
        </p:spPr>
        <p:txBody>
          <a:bodyPr>
            <a:normAutofit/>
          </a:bodyPr>
          <a:lstStyle/>
          <a:p>
            <a:r>
              <a:rPr lang="hu-HU" sz="6000" dirty="0">
                <a:latin typeface="Arial" panose="020B0604020202020204" pitchFamily="34" charset="0"/>
                <a:cs typeface="Arial" panose="020B0604020202020204" pitchFamily="34" charset="0"/>
              </a:rPr>
              <a:t>Stabil párosítási problémák megoldása Gráf Neurális Hálók segítségével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D70620A-FC23-0F88-4021-B0A5A70E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8355" y="4567687"/>
            <a:ext cx="9418320" cy="1691640"/>
          </a:xfrm>
        </p:spPr>
        <p:txBody>
          <a:bodyPr>
            <a:normAutofit/>
          </a:bodyPr>
          <a:lstStyle/>
          <a:p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Készítette: Csurgó Márton (HR6BO1)</a:t>
            </a:r>
          </a:p>
          <a:p>
            <a:r>
              <a:rPr lang="hu-HU" sz="2800" dirty="0">
                <a:latin typeface="Arial" panose="020B0604020202020204" pitchFamily="34" charset="0"/>
                <a:cs typeface="Arial" panose="020B0604020202020204" pitchFamily="34" charset="0"/>
              </a:rPr>
              <a:t>Konzulens: Dr. Toka László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DAB5FA2-23E2-2735-71F3-32E56FE2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892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D40D78-E169-D0B1-8EAC-837A6EF2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stabil párosítási probléma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3989EB-7825-D735-7B08-BD07B710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741520" cy="4351337"/>
          </a:xfrm>
        </p:spPr>
        <p:txBody>
          <a:bodyPr/>
          <a:lstStyle/>
          <a:p>
            <a:pPr algn="just"/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Stabil házassági modell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 férfiak és nők alakítanak párokat az egymásról kialakított rangsoraik alapján</a:t>
            </a:r>
          </a:p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Blokkoló élek és stabilitás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 ha „elégedetlenség” van a párosításban, akkor nem stabil</a:t>
            </a:r>
          </a:p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A probléma </a:t>
            </a:r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általánosíthatósága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 kényszerek hozzáadása vagy elvétele például: 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Stabil szobatárs modell.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stabil párosítás használható beteg-donor párok kialakítására, diákok felvételijénél, orvos rezidensek beosztásához</a:t>
            </a:r>
          </a:p>
        </p:txBody>
      </p:sp>
      <p:sp>
        <p:nvSpPr>
          <p:cNvPr id="4" name="Folyamatábra: Bekötés 3">
            <a:extLst>
              <a:ext uri="{FF2B5EF4-FFF2-40B4-BE49-F238E27FC236}">
                <a16:creationId xmlns:a16="http://schemas.microsoft.com/office/drawing/2014/main" id="{ADDD25A8-D536-45E3-5AC0-8B9527DAD286}"/>
              </a:ext>
            </a:extLst>
          </p:cNvPr>
          <p:cNvSpPr/>
          <p:nvPr/>
        </p:nvSpPr>
        <p:spPr>
          <a:xfrm>
            <a:off x="8087444" y="2081148"/>
            <a:ext cx="310551" cy="31055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Bekötés 4">
            <a:extLst>
              <a:ext uri="{FF2B5EF4-FFF2-40B4-BE49-F238E27FC236}">
                <a16:creationId xmlns:a16="http://schemas.microsoft.com/office/drawing/2014/main" id="{B64C7A6F-996A-383D-4172-F24E4C1D5EA1}"/>
              </a:ext>
            </a:extLst>
          </p:cNvPr>
          <p:cNvSpPr/>
          <p:nvPr/>
        </p:nvSpPr>
        <p:spPr>
          <a:xfrm>
            <a:off x="9326772" y="2081148"/>
            <a:ext cx="310551" cy="31055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5D13FE7C-EE82-D8A5-3827-A25E40D009D1}"/>
              </a:ext>
            </a:extLst>
          </p:cNvPr>
          <p:cNvSpPr/>
          <p:nvPr/>
        </p:nvSpPr>
        <p:spPr>
          <a:xfrm>
            <a:off x="8087444" y="2742507"/>
            <a:ext cx="310551" cy="31055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D483891A-D002-FFAB-7618-60044C1E8BF1}"/>
              </a:ext>
            </a:extLst>
          </p:cNvPr>
          <p:cNvSpPr/>
          <p:nvPr/>
        </p:nvSpPr>
        <p:spPr>
          <a:xfrm>
            <a:off x="9326772" y="2745382"/>
            <a:ext cx="310551" cy="31055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C1D92E75-C6A0-14E2-FBDA-3B3535B8AC2D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8397995" y="2236423"/>
            <a:ext cx="928777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9FE128A2-C5DB-BBA1-406B-53275129B61F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8397995" y="2897782"/>
            <a:ext cx="928777" cy="287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2331D6AE-A67D-D5B8-C773-D986CDFD29E5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397995" y="2236423"/>
            <a:ext cx="928777" cy="66423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84200453-EDF9-5563-FB41-CE3205B9BCFC}"/>
              </a:ext>
            </a:extLst>
          </p:cNvPr>
          <p:cNvCxnSpPr>
            <a:stCxn id="6" idx="6"/>
            <a:endCxn id="5" idx="2"/>
          </p:cNvCxnSpPr>
          <p:nvPr/>
        </p:nvCxnSpPr>
        <p:spPr>
          <a:xfrm flipV="1">
            <a:off x="8397995" y="2236423"/>
            <a:ext cx="928777" cy="661359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lyamatábra: Bekötés 17">
            <a:extLst>
              <a:ext uri="{FF2B5EF4-FFF2-40B4-BE49-F238E27FC236}">
                <a16:creationId xmlns:a16="http://schemas.microsoft.com/office/drawing/2014/main" id="{E8197368-BECE-166C-EC76-EECA7EAD4749}"/>
              </a:ext>
            </a:extLst>
          </p:cNvPr>
          <p:cNvSpPr/>
          <p:nvPr/>
        </p:nvSpPr>
        <p:spPr>
          <a:xfrm>
            <a:off x="8513194" y="5018837"/>
            <a:ext cx="310551" cy="310550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u</a:t>
            </a:r>
          </a:p>
        </p:txBody>
      </p:sp>
      <p:sp>
        <p:nvSpPr>
          <p:cNvPr id="19" name="Folyamatábra: Bekötés 18">
            <a:extLst>
              <a:ext uri="{FF2B5EF4-FFF2-40B4-BE49-F238E27FC236}">
                <a16:creationId xmlns:a16="http://schemas.microsoft.com/office/drawing/2014/main" id="{617336B3-CEF0-18E8-BAC5-4DD4F5DEE068}"/>
              </a:ext>
            </a:extLst>
          </p:cNvPr>
          <p:cNvSpPr/>
          <p:nvPr/>
        </p:nvSpPr>
        <p:spPr>
          <a:xfrm>
            <a:off x="9115245" y="4235029"/>
            <a:ext cx="310551" cy="310550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20" name="Folyamatábra: Bekötés 19">
            <a:extLst>
              <a:ext uri="{FF2B5EF4-FFF2-40B4-BE49-F238E27FC236}">
                <a16:creationId xmlns:a16="http://schemas.microsoft.com/office/drawing/2014/main" id="{79C43B82-7700-D026-828E-D3E862470E4D}"/>
              </a:ext>
            </a:extLst>
          </p:cNvPr>
          <p:cNvSpPr/>
          <p:nvPr/>
        </p:nvSpPr>
        <p:spPr>
          <a:xfrm>
            <a:off x="9696270" y="5018837"/>
            <a:ext cx="310551" cy="310550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Folyamatábra: Bekötés 20">
            <a:extLst>
              <a:ext uri="{FF2B5EF4-FFF2-40B4-BE49-F238E27FC236}">
                <a16:creationId xmlns:a16="http://schemas.microsoft.com/office/drawing/2014/main" id="{6DF0BBC8-E498-D764-555B-2576237C6C72}"/>
              </a:ext>
            </a:extLst>
          </p:cNvPr>
          <p:cNvSpPr/>
          <p:nvPr/>
        </p:nvSpPr>
        <p:spPr>
          <a:xfrm>
            <a:off x="7932169" y="4232297"/>
            <a:ext cx="310551" cy="310550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DC92E744-C5E2-754E-1E1E-0724475EFCBD}"/>
              </a:ext>
            </a:extLst>
          </p:cNvPr>
          <p:cNvCxnSpPr>
            <a:cxnSpLocks/>
            <a:stCxn id="18" idx="1"/>
            <a:endCxn id="21" idx="4"/>
          </p:cNvCxnSpPr>
          <p:nvPr/>
        </p:nvCxnSpPr>
        <p:spPr>
          <a:xfrm flipH="1" flipV="1">
            <a:off x="8087445" y="4542847"/>
            <a:ext cx="471228" cy="52146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2D9480F9-631C-F4F9-4A21-2826ED47292F}"/>
              </a:ext>
            </a:extLst>
          </p:cNvPr>
          <p:cNvCxnSpPr>
            <a:cxnSpLocks/>
            <a:stCxn id="19" idx="5"/>
            <a:endCxn id="20" idx="0"/>
          </p:cNvCxnSpPr>
          <p:nvPr/>
        </p:nvCxnSpPr>
        <p:spPr>
          <a:xfrm>
            <a:off x="9380317" y="4500100"/>
            <a:ext cx="471229" cy="5187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82A66DBF-F688-C7F2-6C4C-573E8CF41A6F}"/>
              </a:ext>
            </a:extLst>
          </p:cNvPr>
          <p:cNvCxnSpPr>
            <a:stCxn id="18" idx="7"/>
            <a:endCxn id="19" idx="3"/>
          </p:cNvCxnSpPr>
          <p:nvPr/>
        </p:nvCxnSpPr>
        <p:spPr>
          <a:xfrm flipV="1">
            <a:off x="8778266" y="4500100"/>
            <a:ext cx="382458" cy="564216"/>
          </a:xfrm>
          <a:prstGeom prst="line">
            <a:avLst/>
          </a:prstGeom>
          <a:ln w="2540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C8B9CD50-42B4-0749-E937-A82D7EC6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614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046971-A162-8B61-FE3C-D6FBE4D1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Gráf Neurális Hálók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55CEB4F-4B00-93CF-0C41-E00D888A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110478" cy="4351337"/>
          </a:xfrm>
        </p:spPr>
        <p:txBody>
          <a:bodyPr/>
          <a:lstStyle/>
          <a:p>
            <a:pPr algn="just"/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Network 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(Gráf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Figyelmi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Hálózat): egy konkrét Gráf Neurális Háló modell, ami a gráfok topológiájából származó információt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figyelmi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fejekkel dolgozza fel</a:t>
            </a:r>
          </a:p>
          <a:p>
            <a:pPr algn="just"/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Network v2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: az eredeti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Network továbbfejlesztése. </a:t>
            </a:r>
          </a:p>
        </p:txBody>
      </p:sp>
      <p:sp>
        <p:nvSpPr>
          <p:cNvPr id="4" name="Folyamatábra: Bekötés 3">
            <a:extLst>
              <a:ext uri="{FF2B5EF4-FFF2-40B4-BE49-F238E27FC236}">
                <a16:creationId xmlns:a16="http://schemas.microsoft.com/office/drawing/2014/main" id="{3CC3CA84-9F7E-A8E0-81A3-F043FD21816A}"/>
              </a:ext>
            </a:extLst>
          </p:cNvPr>
          <p:cNvSpPr/>
          <p:nvPr/>
        </p:nvSpPr>
        <p:spPr>
          <a:xfrm>
            <a:off x="7858125" y="223662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Bekötés 4">
            <a:extLst>
              <a:ext uri="{FF2B5EF4-FFF2-40B4-BE49-F238E27FC236}">
                <a16:creationId xmlns:a16="http://schemas.microsoft.com/office/drawing/2014/main" id="{E00F9F97-3C9D-7CAF-72DD-E5CD83EA5AC4}"/>
              </a:ext>
            </a:extLst>
          </p:cNvPr>
          <p:cNvSpPr/>
          <p:nvPr/>
        </p:nvSpPr>
        <p:spPr>
          <a:xfrm>
            <a:off x="7867650" y="303672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3A74AF9E-6482-9417-1660-CD3D69314DA6}"/>
              </a:ext>
            </a:extLst>
          </p:cNvPr>
          <p:cNvSpPr/>
          <p:nvPr/>
        </p:nvSpPr>
        <p:spPr>
          <a:xfrm>
            <a:off x="7848600" y="384079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7CE79AF4-097E-8774-F96B-61EDE7C43B9F}"/>
              </a:ext>
            </a:extLst>
          </p:cNvPr>
          <p:cNvSpPr/>
          <p:nvPr/>
        </p:nvSpPr>
        <p:spPr>
          <a:xfrm>
            <a:off x="9139238" y="1462722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Folyamatábra: Bekötés 7">
            <a:extLst>
              <a:ext uri="{FF2B5EF4-FFF2-40B4-BE49-F238E27FC236}">
                <a16:creationId xmlns:a16="http://schemas.microsoft.com/office/drawing/2014/main" id="{CA5A10F6-5DF2-C076-96B6-E7C6AA9D705A}"/>
              </a:ext>
            </a:extLst>
          </p:cNvPr>
          <p:cNvSpPr/>
          <p:nvPr/>
        </p:nvSpPr>
        <p:spPr>
          <a:xfrm>
            <a:off x="9139238" y="223662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Folyamatábra: Bekötés 8">
            <a:extLst>
              <a:ext uri="{FF2B5EF4-FFF2-40B4-BE49-F238E27FC236}">
                <a16:creationId xmlns:a16="http://schemas.microsoft.com/office/drawing/2014/main" id="{9E9D1F7D-01BA-FDCD-A6A3-F67D3EAE25B7}"/>
              </a:ext>
            </a:extLst>
          </p:cNvPr>
          <p:cNvSpPr/>
          <p:nvPr/>
        </p:nvSpPr>
        <p:spPr>
          <a:xfrm>
            <a:off x="9148763" y="308879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Folyamatábra: Bekötés 9">
            <a:extLst>
              <a:ext uri="{FF2B5EF4-FFF2-40B4-BE49-F238E27FC236}">
                <a16:creationId xmlns:a16="http://schemas.microsoft.com/office/drawing/2014/main" id="{9528CD01-A2C9-D7CD-2D65-EA05CC926019}"/>
              </a:ext>
            </a:extLst>
          </p:cNvPr>
          <p:cNvSpPr/>
          <p:nvPr/>
        </p:nvSpPr>
        <p:spPr>
          <a:xfrm>
            <a:off x="9144001" y="385714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Folyamatábra: Bekötés 10">
            <a:extLst>
              <a:ext uri="{FF2B5EF4-FFF2-40B4-BE49-F238E27FC236}">
                <a16:creationId xmlns:a16="http://schemas.microsoft.com/office/drawing/2014/main" id="{67C6436D-DA54-41B8-66AA-A01EB5A10FC2}"/>
              </a:ext>
            </a:extLst>
          </p:cNvPr>
          <p:cNvSpPr/>
          <p:nvPr/>
        </p:nvSpPr>
        <p:spPr>
          <a:xfrm>
            <a:off x="9139238" y="4629624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Folyamatábra: Bekötés 11">
            <a:extLst>
              <a:ext uri="{FF2B5EF4-FFF2-40B4-BE49-F238E27FC236}">
                <a16:creationId xmlns:a16="http://schemas.microsoft.com/office/drawing/2014/main" id="{6FAEED4D-7991-334C-9B94-3F807A921065}"/>
              </a:ext>
            </a:extLst>
          </p:cNvPr>
          <p:cNvSpPr/>
          <p:nvPr/>
        </p:nvSpPr>
        <p:spPr>
          <a:xfrm>
            <a:off x="10297287" y="2473243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Folyamatábra: Bekötés 12">
            <a:extLst>
              <a:ext uri="{FF2B5EF4-FFF2-40B4-BE49-F238E27FC236}">
                <a16:creationId xmlns:a16="http://schemas.microsoft.com/office/drawing/2014/main" id="{84330917-7E1B-FE48-2E16-6889A5B4997B}"/>
              </a:ext>
            </a:extLst>
          </p:cNvPr>
          <p:cNvSpPr/>
          <p:nvPr/>
        </p:nvSpPr>
        <p:spPr>
          <a:xfrm>
            <a:off x="10297287" y="348427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" name="Egyenes összekötő 14">
            <a:extLst>
              <a:ext uri="{FF2B5EF4-FFF2-40B4-BE49-F238E27FC236}">
                <a16:creationId xmlns:a16="http://schemas.microsoft.com/office/drawing/2014/main" id="{F049625F-BEE7-470F-A526-6F65D2062C19}"/>
              </a:ext>
            </a:extLst>
          </p:cNvPr>
          <p:cNvCxnSpPr>
            <a:stCxn id="4" idx="6"/>
            <a:endCxn id="7" idx="2"/>
          </p:cNvCxnSpPr>
          <p:nvPr/>
        </p:nvCxnSpPr>
        <p:spPr>
          <a:xfrm flipV="1">
            <a:off x="8315325" y="1691322"/>
            <a:ext cx="823913" cy="77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16">
            <a:extLst>
              <a:ext uri="{FF2B5EF4-FFF2-40B4-BE49-F238E27FC236}">
                <a16:creationId xmlns:a16="http://schemas.microsoft.com/office/drawing/2014/main" id="{18A48BFA-ADB6-D8B2-5A10-39AB92ACA59D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8315325" y="2465228"/>
            <a:ext cx="8239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18">
            <a:extLst>
              <a:ext uri="{FF2B5EF4-FFF2-40B4-BE49-F238E27FC236}">
                <a16:creationId xmlns:a16="http://schemas.microsoft.com/office/drawing/2014/main" id="{7BF69AEC-CC4E-FC6A-5C0D-2426FC30DEFE}"/>
              </a:ext>
            </a:extLst>
          </p:cNvPr>
          <p:cNvCxnSpPr>
            <a:stCxn id="4" idx="6"/>
            <a:endCxn id="9" idx="2"/>
          </p:cNvCxnSpPr>
          <p:nvPr/>
        </p:nvCxnSpPr>
        <p:spPr>
          <a:xfrm>
            <a:off x="8315325" y="2465228"/>
            <a:ext cx="833438" cy="85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20">
            <a:extLst>
              <a:ext uri="{FF2B5EF4-FFF2-40B4-BE49-F238E27FC236}">
                <a16:creationId xmlns:a16="http://schemas.microsoft.com/office/drawing/2014/main" id="{D430FFB5-336C-16D4-1219-594D810C4030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8324850" y="3265328"/>
            <a:ext cx="823913" cy="52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22">
            <a:extLst>
              <a:ext uri="{FF2B5EF4-FFF2-40B4-BE49-F238E27FC236}">
                <a16:creationId xmlns:a16="http://schemas.microsoft.com/office/drawing/2014/main" id="{15F7BF0E-3307-3ABD-8689-A33C3BA842E8}"/>
              </a:ext>
            </a:extLst>
          </p:cNvPr>
          <p:cNvCxnSpPr>
            <a:stCxn id="4" idx="6"/>
            <a:endCxn id="10" idx="2"/>
          </p:cNvCxnSpPr>
          <p:nvPr/>
        </p:nvCxnSpPr>
        <p:spPr>
          <a:xfrm>
            <a:off x="8315325" y="2465228"/>
            <a:ext cx="828676" cy="16205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gyenes összekötő 24">
            <a:extLst>
              <a:ext uri="{FF2B5EF4-FFF2-40B4-BE49-F238E27FC236}">
                <a16:creationId xmlns:a16="http://schemas.microsoft.com/office/drawing/2014/main" id="{E17F32A5-7150-E643-9CBC-7CBA2EC3FB84}"/>
              </a:ext>
            </a:extLst>
          </p:cNvPr>
          <p:cNvCxnSpPr>
            <a:stCxn id="4" idx="6"/>
            <a:endCxn id="11" idx="2"/>
          </p:cNvCxnSpPr>
          <p:nvPr/>
        </p:nvCxnSpPr>
        <p:spPr>
          <a:xfrm>
            <a:off x="8315325" y="2465228"/>
            <a:ext cx="823913" cy="2392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26">
            <a:extLst>
              <a:ext uri="{FF2B5EF4-FFF2-40B4-BE49-F238E27FC236}">
                <a16:creationId xmlns:a16="http://schemas.microsoft.com/office/drawing/2014/main" id="{3991DB82-8CDD-63E8-B533-3D79EE9B988F}"/>
              </a:ext>
            </a:extLst>
          </p:cNvPr>
          <p:cNvCxnSpPr>
            <a:stCxn id="5" idx="6"/>
            <a:endCxn id="7" idx="2"/>
          </p:cNvCxnSpPr>
          <p:nvPr/>
        </p:nvCxnSpPr>
        <p:spPr>
          <a:xfrm flipV="1">
            <a:off x="8324850" y="1691322"/>
            <a:ext cx="814388" cy="15740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28">
            <a:extLst>
              <a:ext uri="{FF2B5EF4-FFF2-40B4-BE49-F238E27FC236}">
                <a16:creationId xmlns:a16="http://schemas.microsoft.com/office/drawing/2014/main" id="{A6AAE4EB-EE7B-E797-3BDB-24A981956238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8324850" y="2465228"/>
            <a:ext cx="814388" cy="800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gyenes összekötő 30">
            <a:extLst>
              <a:ext uri="{FF2B5EF4-FFF2-40B4-BE49-F238E27FC236}">
                <a16:creationId xmlns:a16="http://schemas.microsoft.com/office/drawing/2014/main" id="{8A3238E5-25C9-646F-5989-04FD5288B07C}"/>
              </a:ext>
            </a:extLst>
          </p:cNvPr>
          <p:cNvCxnSpPr>
            <a:stCxn id="5" idx="6"/>
            <a:endCxn id="10" idx="2"/>
          </p:cNvCxnSpPr>
          <p:nvPr/>
        </p:nvCxnSpPr>
        <p:spPr>
          <a:xfrm>
            <a:off x="8324850" y="3265328"/>
            <a:ext cx="819151" cy="8204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gyenes összekötő 32">
            <a:extLst>
              <a:ext uri="{FF2B5EF4-FFF2-40B4-BE49-F238E27FC236}">
                <a16:creationId xmlns:a16="http://schemas.microsoft.com/office/drawing/2014/main" id="{910824CD-71B8-5241-F7CE-77B3D743A0F1}"/>
              </a:ext>
            </a:extLst>
          </p:cNvPr>
          <p:cNvCxnSpPr>
            <a:stCxn id="5" idx="6"/>
            <a:endCxn id="11" idx="2"/>
          </p:cNvCxnSpPr>
          <p:nvPr/>
        </p:nvCxnSpPr>
        <p:spPr>
          <a:xfrm>
            <a:off x="8324850" y="3265328"/>
            <a:ext cx="814388" cy="15928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gyenes összekötő 34">
            <a:extLst>
              <a:ext uri="{FF2B5EF4-FFF2-40B4-BE49-F238E27FC236}">
                <a16:creationId xmlns:a16="http://schemas.microsoft.com/office/drawing/2014/main" id="{57DB6F1A-E440-E6E7-9B24-9EA2536BE7F9}"/>
              </a:ext>
            </a:extLst>
          </p:cNvPr>
          <p:cNvCxnSpPr>
            <a:stCxn id="6" idx="6"/>
            <a:endCxn id="7" idx="2"/>
          </p:cNvCxnSpPr>
          <p:nvPr/>
        </p:nvCxnSpPr>
        <p:spPr>
          <a:xfrm flipV="1">
            <a:off x="8305800" y="1691322"/>
            <a:ext cx="833438" cy="23780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gyenes összekötő 36">
            <a:extLst>
              <a:ext uri="{FF2B5EF4-FFF2-40B4-BE49-F238E27FC236}">
                <a16:creationId xmlns:a16="http://schemas.microsoft.com/office/drawing/2014/main" id="{C02821A1-D6B8-4503-B4C4-73439606E776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8305800" y="2465228"/>
            <a:ext cx="833438" cy="1604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gyenes összekötő 38">
            <a:extLst>
              <a:ext uri="{FF2B5EF4-FFF2-40B4-BE49-F238E27FC236}">
                <a16:creationId xmlns:a16="http://schemas.microsoft.com/office/drawing/2014/main" id="{C9F0E05B-466F-6410-49B2-776B170E2F56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8305800" y="3317396"/>
            <a:ext cx="842963" cy="75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Egyenes összekötő 40">
            <a:extLst>
              <a:ext uri="{FF2B5EF4-FFF2-40B4-BE49-F238E27FC236}">
                <a16:creationId xmlns:a16="http://schemas.microsoft.com/office/drawing/2014/main" id="{571A65E7-7901-3211-116E-16FC256B4A98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8305800" y="4069396"/>
            <a:ext cx="838201" cy="1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gyenes összekötő 42">
            <a:extLst>
              <a:ext uri="{FF2B5EF4-FFF2-40B4-BE49-F238E27FC236}">
                <a16:creationId xmlns:a16="http://schemas.microsoft.com/office/drawing/2014/main" id="{ABA4D5F7-602F-F528-05A6-606BDAD0E4BD}"/>
              </a:ext>
            </a:extLst>
          </p:cNvPr>
          <p:cNvCxnSpPr>
            <a:stCxn id="6" idx="6"/>
            <a:endCxn id="11" idx="2"/>
          </p:cNvCxnSpPr>
          <p:nvPr/>
        </p:nvCxnSpPr>
        <p:spPr>
          <a:xfrm>
            <a:off x="8305800" y="4069396"/>
            <a:ext cx="833438" cy="788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gyenes összekötő 59">
            <a:extLst>
              <a:ext uri="{FF2B5EF4-FFF2-40B4-BE49-F238E27FC236}">
                <a16:creationId xmlns:a16="http://schemas.microsoft.com/office/drawing/2014/main" id="{E3D48E85-6EDD-9773-97C5-768D4DABB05E}"/>
              </a:ext>
            </a:extLst>
          </p:cNvPr>
          <p:cNvCxnSpPr>
            <a:stCxn id="8" idx="6"/>
            <a:endCxn id="12" idx="2"/>
          </p:cNvCxnSpPr>
          <p:nvPr/>
        </p:nvCxnSpPr>
        <p:spPr>
          <a:xfrm>
            <a:off x="9596438" y="2465228"/>
            <a:ext cx="700849" cy="236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gyenes összekötő 61">
            <a:extLst>
              <a:ext uri="{FF2B5EF4-FFF2-40B4-BE49-F238E27FC236}">
                <a16:creationId xmlns:a16="http://schemas.microsoft.com/office/drawing/2014/main" id="{9F170209-A8DB-F71F-98D6-1682174F763A}"/>
              </a:ext>
            </a:extLst>
          </p:cNvPr>
          <p:cNvCxnSpPr>
            <a:stCxn id="7" idx="6"/>
            <a:endCxn id="12" idx="2"/>
          </p:cNvCxnSpPr>
          <p:nvPr/>
        </p:nvCxnSpPr>
        <p:spPr>
          <a:xfrm>
            <a:off x="9596438" y="1691322"/>
            <a:ext cx="700849" cy="101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gyenes összekötő 63">
            <a:extLst>
              <a:ext uri="{FF2B5EF4-FFF2-40B4-BE49-F238E27FC236}">
                <a16:creationId xmlns:a16="http://schemas.microsoft.com/office/drawing/2014/main" id="{59403F33-9EEC-E880-918D-C13124B2CBDB}"/>
              </a:ext>
            </a:extLst>
          </p:cNvPr>
          <p:cNvCxnSpPr>
            <a:stCxn id="9" idx="6"/>
            <a:endCxn id="12" idx="2"/>
          </p:cNvCxnSpPr>
          <p:nvPr/>
        </p:nvCxnSpPr>
        <p:spPr>
          <a:xfrm flipV="1">
            <a:off x="9605963" y="2701843"/>
            <a:ext cx="691324" cy="6155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gyenes összekötő 65">
            <a:extLst>
              <a:ext uri="{FF2B5EF4-FFF2-40B4-BE49-F238E27FC236}">
                <a16:creationId xmlns:a16="http://schemas.microsoft.com/office/drawing/2014/main" id="{A785E2AD-A646-8A71-1C3C-FFAB95A5BFEA}"/>
              </a:ext>
            </a:extLst>
          </p:cNvPr>
          <p:cNvCxnSpPr>
            <a:stCxn id="10" idx="6"/>
            <a:endCxn id="13" idx="2"/>
          </p:cNvCxnSpPr>
          <p:nvPr/>
        </p:nvCxnSpPr>
        <p:spPr>
          <a:xfrm flipV="1">
            <a:off x="9601201" y="3712878"/>
            <a:ext cx="696086" cy="372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gyenes összekötő 67">
            <a:extLst>
              <a:ext uri="{FF2B5EF4-FFF2-40B4-BE49-F238E27FC236}">
                <a16:creationId xmlns:a16="http://schemas.microsoft.com/office/drawing/2014/main" id="{4C58DC89-D38B-B8F9-6AED-BB464BD95B30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 flipV="1">
            <a:off x="9596438" y="2701843"/>
            <a:ext cx="700849" cy="21563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Egyenes összekötő 69">
            <a:extLst>
              <a:ext uri="{FF2B5EF4-FFF2-40B4-BE49-F238E27FC236}">
                <a16:creationId xmlns:a16="http://schemas.microsoft.com/office/drawing/2014/main" id="{77624325-79F8-8842-31F2-21D7C6E51A55}"/>
              </a:ext>
            </a:extLst>
          </p:cNvPr>
          <p:cNvCxnSpPr>
            <a:stCxn id="10" idx="6"/>
            <a:endCxn id="12" idx="2"/>
          </p:cNvCxnSpPr>
          <p:nvPr/>
        </p:nvCxnSpPr>
        <p:spPr>
          <a:xfrm flipV="1">
            <a:off x="9601201" y="2701843"/>
            <a:ext cx="696086" cy="1383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gyenes összekötő 71">
            <a:extLst>
              <a:ext uri="{FF2B5EF4-FFF2-40B4-BE49-F238E27FC236}">
                <a16:creationId xmlns:a16="http://schemas.microsoft.com/office/drawing/2014/main" id="{A857A1E3-1608-C1DA-3822-D41D672D12D9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 flipV="1">
            <a:off x="9596438" y="3712878"/>
            <a:ext cx="700849" cy="11453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Egyenes összekötő 73">
            <a:extLst>
              <a:ext uri="{FF2B5EF4-FFF2-40B4-BE49-F238E27FC236}">
                <a16:creationId xmlns:a16="http://schemas.microsoft.com/office/drawing/2014/main" id="{C24B8594-8DB8-6D88-5583-749365FE427A}"/>
              </a:ext>
            </a:extLst>
          </p:cNvPr>
          <p:cNvCxnSpPr>
            <a:stCxn id="9" idx="6"/>
            <a:endCxn id="13" idx="2"/>
          </p:cNvCxnSpPr>
          <p:nvPr/>
        </p:nvCxnSpPr>
        <p:spPr>
          <a:xfrm>
            <a:off x="9605963" y="3317396"/>
            <a:ext cx="691324" cy="3954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Egyenes összekötő 75">
            <a:extLst>
              <a:ext uri="{FF2B5EF4-FFF2-40B4-BE49-F238E27FC236}">
                <a16:creationId xmlns:a16="http://schemas.microsoft.com/office/drawing/2014/main" id="{4907091A-6E24-1103-214A-827277EAC96D}"/>
              </a:ext>
            </a:extLst>
          </p:cNvPr>
          <p:cNvCxnSpPr>
            <a:stCxn id="8" idx="6"/>
            <a:endCxn id="13" idx="2"/>
          </p:cNvCxnSpPr>
          <p:nvPr/>
        </p:nvCxnSpPr>
        <p:spPr>
          <a:xfrm>
            <a:off x="9596438" y="2465228"/>
            <a:ext cx="700849" cy="1247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gyenes összekötő 77">
            <a:extLst>
              <a:ext uri="{FF2B5EF4-FFF2-40B4-BE49-F238E27FC236}">
                <a16:creationId xmlns:a16="http://schemas.microsoft.com/office/drawing/2014/main" id="{A3E2F285-23AA-1AFC-0D4B-B776C45454E7}"/>
              </a:ext>
            </a:extLst>
          </p:cNvPr>
          <p:cNvCxnSpPr>
            <a:stCxn id="7" idx="6"/>
            <a:endCxn id="13" idx="2"/>
          </p:cNvCxnSpPr>
          <p:nvPr/>
        </p:nvCxnSpPr>
        <p:spPr>
          <a:xfrm>
            <a:off x="9596438" y="1691322"/>
            <a:ext cx="700849" cy="20215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 számának helye 13">
            <a:extLst>
              <a:ext uri="{FF2B5EF4-FFF2-40B4-BE49-F238E27FC236}">
                <a16:creationId xmlns:a16="http://schemas.microsoft.com/office/drawing/2014/main" id="{9E850730-3980-327D-E13B-F56E90AC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31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81CEB2-A707-E39D-EA76-B0ECD439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munka kezdőállapota és a megoldás menete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9B43C7C-9572-F105-243A-A9F261F38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Eszközök: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NetworkX</a:t>
            </a:r>
            <a:endParaRPr lang="hu-H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Megoldás menete:</a:t>
            </a:r>
          </a:p>
          <a:p>
            <a:pPr lvl="1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Adathalmaz létrehozása</a:t>
            </a:r>
          </a:p>
          <a:p>
            <a:pPr lvl="1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Modell összerakása</a:t>
            </a:r>
          </a:p>
          <a:p>
            <a:pPr lvl="1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Tanítás implementálása</a:t>
            </a:r>
          </a:p>
          <a:p>
            <a:pPr lvl="1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Adatelemzési eszközök bevetése a teljesítmény javításához</a:t>
            </a:r>
          </a:p>
          <a:p>
            <a:pPr lvl="1"/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Tesztelés keretrendszerének implementálása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C05A2110-F78D-EEB8-E530-EEDA06419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739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A6AB2A-FCCF-EE1F-9243-04B82E07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tanító adathalmaz megalkotása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DA66B8-79FC-7356-D5C2-E56C5435A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5815203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Stabil házassági modellnek megfelelő gráfok implementálása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gráfok csúcsaira és éleire jellemzők számítása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Felügyelt tanításhoz címkék létrehozása élekre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Gale-Shapley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algoritmus implementálás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9CE0126-2517-8143-EA66-0BEE635A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0691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AAC507-23AD-E16F-7794-86EC7E804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Modell megalkotása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2B0EE84-3BD3-DB6B-A7BC-3B4AACA7E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7853554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Eredetileg GAT (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Network), majd GATv2 (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Graph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dirty="0" err="1">
                <a:latin typeface="Arial" panose="020B0604020202020204" pitchFamily="34" charset="0"/>
                <a:cs typeface="Arial" panose="020B0604020202020204" pitchFamily="34" charset="0"/>
              </a:rPr>
              <a:t>Attention</a:t>
            </a:r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 Network v2)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Rétegek definiálása és a közöttük lévő kapcsolatok megalkotása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Optimalizáló kiválasztása és paraméterének finomhangolása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Végső modell: 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GATv2Conv → </a:t>
            </a:r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Skip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→ GATv2Conv → </a:t>
            </a:r>
            <a:r>
              <a:rPr lang="hu-HU" b="1" dirty="0" err="1">
                <a:latin typeface="Arial" panose="020B0604020202020204" pitchFamily="34" charset="0"/>
                <a:cs typeface="Arial" panose="020B0604020202020204" pitchFamily="34" charset="0"/>
              </a:rPr>
              <a:t>Skip</a:t>
            </a:r>
            <a:r>
              <a:rPr lang="hu-HU" b="1" dirty="0">
                <a:latin typeface="Arial" panose="020B0604020202020204" pitchFamily="34" charset="0"/>
                <a:cs typeface="Arial" panose="020B0604020202020204" pitchFamily="34" charset="0"/>
              </a:rPr>
              <a:t> → MLP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29D65B8-D3B3-7F3E-53D7-179DA0E49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869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BA6B433-2768-0343-E34B-3C07C2241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Tanítás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5140D8-2CE9-C459-781B-682199843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7177278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Optimális méretű és struktúrájú gráfok kiválasztása majd nagy mennyiségű adat legenerálása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veszteség függvény definiálása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Tanítási ciklus implementálása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Korai leállítása a tanítási ciklusnak validációval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legjobb modell elmentése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69F65D8-DC69-CE09-06F4-A0DA0FBB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2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6F763F-40DC-16A1-81F1-6E80EC19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Tesztelés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E3FA15-4DE7-0CC2-4F67-8493DF86B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996303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Tesztelő adathalmaz létrehozása a tanító adathalmazhoz hasonlóan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Algoritmus implementálása ami kiértékeli a tesztelendő gráfokat, majd párosításokat alkot az előrejelzésekből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Stabilitás vizsgálatához algoritmus implementálása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megalkotott párosítások megvizsgálása stabilitás alapján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B4579CD-E535-709D-2C7A-E119DC2E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16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A03C38-42D6-35C5-70E8-3BAED2E0D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Eredmények és értelmezéseik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2CB6FB-AF0B-2F78-9FCA-4A2AC6305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7253478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mérőszám definíciója és a véletlen osztályozó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Véletlen osztályozó teljesítménye megfelelő feltételezések mellett 16,67%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Könnyebb és nehezebb esetekre 70% körüli pontosságot mutat a tanított modell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legnehezebb esetekre 35% körüli teljesítmény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Stabil szobatárs modellen használhatatlan a modell de nem véletlen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Nagy nyelvi modellek teljesítménye a Stabil házasságra változó (100+ milliárd paraméteres modellek 100%-os pontosságot mutatnak, 10 milliárd paraméter alatti modellek közel 0%-os pontosságot mutatnak)</a:t>
            </a: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8BFC0E6-3BAB-585A-9235-B474A8720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440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4A9F77-55C6-FBF7-A87B-3E70F8A40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További tervek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B9D600-4913-333F-9DC2-6022B5BAC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6796278" cy="4351337"/>
          </a:xfrm>
        </p:spPr>
        <p:txBody>
          <a:bodyPr/>
          <a:lstStyle/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A modell általánosító képessége nem elegendő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Éles versenyeknél a jellemzők számítása miatt nincs elegendő eltérés csúcsok között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Különböző keretrendszerek implementálása a veszteség optimalizálására és a gráfok struktúrájának optimalizálására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Eltérő modellek tanítása és együttes használata</a:t>
            </a:r>
          </a:p>
          <a:p>
            <a:r>
              <a:rPr lang="hu-HU" dirty="0">
                <a:latin typeface="Arial" panose="020B0604020202020204" pitchFamily="34" charset="0"/>
                <a:cs typeface="Arial" panose="020B0604020202020204" pitchFamily="34" charset="0"/>
              </a:rPr>
              <a:t>Kiválasztási algoritmus optimalizálása</a:t>
            </a:r>
          </a:p>
        </p:txBody>
      </p:sp>
      <p:sp>
        <p:nvSpPr>
          <p:cNvPr id="4" name="Folyamatábra: Bekötés 3">
            <a:extLst>
              <a:ext uri="{FF2B5EF4-FFF2-40B4-BE49-F238E27FC236}">
                <a16:creationId xmlns:a16="http://schemas.microsoft.com/office/drawing/2014/main" id="{AC4F88F5-99D8-1B6E-1118-6D6216CE0F0E}"/>
              </a:ext>
            </a:extLst>
          </p:cNvPr>
          <p:cNvSpPr/>
          <p:nvPr/>
        </p:nvSpPr>
        <p:spPr>
          <a:xfrm>
            <a:off x="8592269" y="1976373"/>
            <a:ext cx="310551" cy="31055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Folyamatábra: Bekötés 4">
            <a:extLst>
              <a:ext uri="{FF2B5EF4-FFF2-40B4-BE49-F238E27FC236}">
                <a16:creationId xmlns:a16="http://schemas.microsoft.com/office/drawing/2014/main" id="{1FDFCA70-8CE1-B3BC-190A-9BCD8FA01BEA}"/>
              </a:ext>
            </a:extLst>
          </p:cNvPr>
          <p:cNvSpPr/>
          <p:nvPr/>
        </p:nvSpPr>
        <p:spPr>
          <a:xfrm>
            <a:off x="9831597" y="1976373"/>
            <a:ext cx="310551" cy="31055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Bekötés 5">
            <a:extLst>
              <a:ext uri="{FF2B5EF4-FFF2-40B4-BE49-F238E27FC236}">
                <a16:creationId xmlns:a16="http://schemas.microsoft.com/office/drawing/2014/main" id="{A17AE4FB-A893-C5DA-9426-E4EF26EDAA8C}"/>
              </a:ext>
            </a:extLst>
          </p:cNvPr>
          <p:cNvSpPr/>
          <p:nvPr/>
        </p:nvSpPr>
        <p:spPr>
          <a:xfrm>
            <a:off x="8592269" y="2637732"/>
            <a:ext cx="310551" cy="310550"/>
          </a:xfrm>
          <a:prstGeom prst="flowChartConnector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7" name="Folyamatábra: Bekötés 6">
            <a:extLst>
              <a:ext uri="{FF2B5EF4-FFF2-40B4-BE49-F238E27FC236}">
                <a16:creationId xmlns:a16="http://schemas.microsoft.com/office/drawing/2014/main" id="{966FB056-726A-23CE-18C4-5E900C4EEDB2}"/>
              </a:ext>
            </a:extLst>
          </p:cNvPr>
          <p:cNvSpPr/>
          <p:nvPr/>
        </p:nvSpPr>
        <p:spPr>
          <a:xfrm>
            <a:off x="9831597" y="2640607"/>
            <a:ext cx="310551" cy="310550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A5BF5AE0-DABC-A189-3660-F8B03CD6FB7D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8902820" y="2131648"/>
            <a:ext cx="928777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gyenes összekötő 8">
            <a:extLst>
              <a:ext uri="{FF2B5EF4-FFF2-40B4-BE49-F238E27FC236}">
                <a16:creationId xmlns:a16="http://schemas.microsoft.com/office/drawing/2014/main" id="{ACA51B28-4C3B-BC81-039E-D8340CD061F1}"/>
              </a:ext>
            </a:extLst>
          </p:cNvPr>
          <p:cNvCxnSpPr>
            <a:stCxn id="6" idx="6"/>
            <a:endCxn id="7" idx="2"/>
          </p:cNvCxnSpPr>
          <p:nvPr/>
        </p:nvCxnSpPr>
        <p:spPr>
          <a:xfrm>
            <a:off x="8902820" y="2793007"/>
            <a:ext cx="928777" cy="287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9C27C06A-05B0-F71C-2734-2F8AD3337FAA}"/>
              </a:ext>
            </a:extLst>
          </p:cNvPr>
          <p:cNvCxnSpPr>
            <a:stCxn id="4" idx="6"/>
            <a:endCxn id="7" idx="2"/>
          </p:cNvCxnSpPr>
          <p:nvPr/>
        </p:nvCxnSpPr>
        <p:spPr>
          <a:xfrm>
            <a:off x="8902820" y="2131648"/>
            <a:ext cx="928777" cy="664234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10">
            <a:extLst>
              <a:ext uri="{FF2B5EF4-FFF2-40B4-BE49-F238E27FC236}">
                <a16:creationId xmlns:a16="http://schemas.microsoft.com/office/drawing/2014/main" id="{0629CFDD-E9D1-2E68-06FF-F7C344F3CAE9}"/>
              </a:ext>
            </a:extLst>
          </p:cNvPr>
          <p:cNvCxnSpPr>
            <a:stCxn id="6" idx="6"/>
            <a:endCxn id="5" idx="2"/>
          </p:cNvCxnSpPr>
          <p:nvPr/>
        </p:nvCxnSpPr>
        <p:spPr>
          <a:xfrm flipV="1">
            <a:off x="8902820" y="2131648"/>
            <a:ext cx="928777" cy="661359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lyamatábra: Bekötés 11">
            <a:extLst>
              <a:ext uri="{FF2B5EF4-FFF2-40B4-BE49-F238E27FC236}">
                <a16:creationId xmlns:a16="http://schemas.microsoft.com/office/drawing/2014/main" id="{3BDD712C-407D-5497-20CE-09591E59EDE3}"/>
              </a:ext>
            </a:extLst>
          </p:cNvPr>
          <p:cNvSpPr/>
          <p:nvPr/>
        </p:nvSpPr>
        <p:spPr>
          <a:xfrm>
            <a:off x="8290344" y="400446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Folyamatábra: Bekötés 12">
            <a:extLst>
              <a:ext uri="{FF2B5EF4-FFF2-40B4-BE49-F238E27FC236}">
                <a16:creationId xmlns:a16="http://schemas.microsoft.com/office/drawing/2014/main" id="{F35F140C-8A6A-BFD4-001C-12B077D00A9E}"/>
              </a:ext>
            </a:extLst>
          </p:cNvPr>
          <p:cNvSpPr/>
          <p:nvPr/>
        </p:nvSpPr>
        <p:spPr>
          <a:xfrm>
            <a:off x="9841122" y="436245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Folyamatábra: Bekötés 13">
            <a:extLst>
              <a:ext uri="{FF2B5EF4-FFF2-40B4-BE49-F238E27FC236}">
                <a16:creationId xmlns:a16="http://schemas.microsoft.com/office/drawing/2014/main" id="{1F40B5A7-48F9-1320-EAAF-69E7E20D973D}"/>
              </a:ext>
            </a:extLst>
          </p:cNvPr>
          <p:cNvSpPr/>
          <p:nvPr/>
        </p:nvSpPr>
        <p:spPr>
          <a:xfrm>
            <a:off x="7639409" y="5457825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Folyamatábra: Bekötés 14">
            <a:extLst>
              <a:ext uri="{FF2B5EF4-FFF2-40B4-BE49-F238E27FC236}">
                <a16:creationId xmlns:a16="http://schemas.microsoft.com/office/drawing/2014/main" id="{18432D63-027F-EE49-B1AA-9206EDC76F47}"/>
              </a:ext>
            </a:extLst>
          </p:cNvPr>
          <p:cNvSpPr/>
          <p:nvPr/>
        </p:nvSpPr>
        <p:spPr>
          <a:xfrm>
            <a:off x="9367208" y="5734050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Folyamatábra: Bekötés 15">
            <a:extLst>
              <a:ext uri="{FF2B5EF4-FFF2-40B4-BE49-F238E27FC236}">
                <a16:creationId xmlns:a16="http://schemas.microsoft.com/office/drawing/2014/main" id="{98B553A9-0305-2D39-311E-0540E7CAE7F3}"/>
              </a:ext>
            </a:extLst>
          </p:cNvPr>
          <p:cNvSpPr/>
          <p:nvPr/>
        </p:nvSpPr>
        <p:spPr>
          <a:xfrm>
            <a:off x="8303464" y="4690268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8" name="Egyenes összekötő 17">
            <a:extLst>
              <a:ext uri="{FF2B5EF4-FFF2-40B4-BE49-F238E27FC236}">
                <a16:creationId xmlns:a16="http://schemas.microsoft.com/office/drawing/2014/main" id="{E3F64501-E5D9-7A3E-6D9C-D0EB8F7A98E5}"/>
              </a:ext>
            </a:extLst>
          </p:cNvPr>
          <p:cNvCxnSpPr>
            <a:stCxn id="16" idx="0"/>
            <a:endCxn id="12" idx="4"/>
          </p:cNvCxnSpPr>
          <p:nvPr/>
        </p:nvCxnSpPr>
        <p:spPr>
          <a:xfrm flipH="1" flipV="1">
            <a:off x="8518944" y="4461668"/>
            <a:ext cx="13120" cy="2286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19">
            <a:extLst>
              <a:ext uri="{FF2B5EF4-FFF2-40B4-BE49-F238E27FC236}">
                <a16:creationId xmlns:a16="http://schemas.microsoft.com/office/drawing/2014/main" id="{454E11B7-02CE-78D2-8477-9055C346ABFB}"/>
              </a:ext>
            </a:extLst>
          </p:cNvPr>
          <p:cNvCxnSpPr>
            <a:stCxn id="16" idx="7"/>
            <a:endCxn id="13" idx="3"/>
          </p:cNvCxnSpPr>
          <p:nvPr/>
        </p:nvCxnSpPr>
        <p:spPr>
          <a:xfrm flipV="1">
            <a:off x="8693709" y="4752695"/>
            <a:ext cx="1214368" cy="4528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21">
            <a:extLst>
              <a:ext uri="{FF2B5EF4-FFF2-40B4-BE49-F238E27FC236}">
                <a16:creationId xmlns:a16="http://schemas.microsoft.com/office/drawing/2014/main" id="{8DC2D374-F842-EDCD-2F4E-26894251376B}"/>
              </a:ext>
            </a:extLst>
          </p:cNvPr>
          <p:cNvCxnSpPr>
            <a:stCxn id="16" idx="5"/>
            <a:endCxn id="15" idx="1"/>
          </p:cNvCxnSpPr>
          <p:nvPr/>
        </p:nvCxnSpPr>
        <p:spPr>
          <a:xfrm>
            <a:off x="8693709" y="5080513"/>
            <a:ext cx="740454" cy="72049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23">
            <a:extLst>
              <a:ext uri="{FF2B5EF4-FFF2-40B4-BE49-F238E27FC236}">
                <a16:creationId xmlns:a16="http://schemas.microsoft.com/office/drawing/2014/main" id="{91F31335-08CA-A27E-EF3B-8B3460C4D83C}"/>
              </a:ext>
            </a:extLst>
          </p:cNvPr>
          <p:cNvCxnSpPr>
            <a:stCxn id="16" idx="2"/>
            <a:endCxn id="14" idx="7"/>
          </p:cNvCxnSpPr>
          <p:nvPr/>
        </p:nvCxnSpPr>
        <p:spPr>
          <a:xfrm flipH="1">
            <a:off x="8029654" y="4918868"/>
            <a:ext cx="273810" cy="60591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gyenes összekötő 25">
            <a:extLst>
              <a:ext uri="{FF2B5EF4-FFF2-40B4-BE49-F238E27FC236}">
                <a16:creationId xmlns:a16="http://schemas.microsoft.com/office/drawing/2014/main" id="{6092222D-872A-1A9F-25EF-2763F75A8323}"/>
              </a:ext>
            </a:extLst>
          </p:cNvPr>
          <p:cNvCxnSpPr>
            <a:stCxn id="12" idx="6"/>
            <a:endCxn id="13" idx="2"/>
          </p:cNvCxnSpPr>
          <p:nvPr/>
        </p:nvCxnSpPr>
        <p:spPr>
          <a:xfrm>
            <a:off x="8747544" y="4233068"/>
            <a:ext cx="1093578" cy="35798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27">
            <a:extLst>
              <a:ext uri="{FF2B5EF4-FFF2-40B4-BE49-F238E27FC236}">
                <a16:creationId xmlns:a16="http://schemas.microsoft.com/office/drawing/2014/main" id="{211F1370-ED95-6A2D-0BBD-A2DC3A2DE72C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H="1">
            <a:off x="7868009" y="4394713"/>
            <a:ext cx="489290" cy="1063112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gyenes összekötő 29">
            <a:extLst>
              <a:ext uri="{FF2B5EF4-FFF2-40B4-BE49-F238E27FC236}">
                <a16:creationId xmlns:a16="http://schemas.microsoft.com/office/drawing/2014/main" id="{A429B6EC-1B2E-0A40-0CAE-645B60F1D3AE}"/>
              </a:ext>
            </a:extLst>
          </p:cNvPr>
          <p:cNvCxnSpPr>
            <a:stCxn id="12" idx="5"/>
            <a:endCxn id="15" idx="0"/>
          </p:cNvCxnSpPr>
          <p:nvPr/>
        </p:nvCxnSpPr>
        <p:spPr>
          <a:xfrm>
            <a:off x="8680589" y="4394713"/>
            <a:ext cx="915219" cy="1339337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>
            <a:extLst>
              <a:ext uri="{FF2B5EF4-FFF2-40B4-BE49-F238E27FC236}">
                <a16:creationId xmlns:a16="http://schemas.microsoft.com/office/drawing/2014/main" id="{9BFB2E90-17DA-1781-D50C-B35203B10956}"/>
              </a:ext>
            </a:extLst>
          </p:cNvPr>
          <p:cNvCxnSpPr>
            <a:stCxn id="14" idx="6"/>
            <a:endCxn id="15" idx="2"/>
          </p:cNvCxnSpPr>
          <p:nvPr/>
        </p:nvCxnSpPr>
        <p:spPr>
          <a:xfrm>
            <a:off x="8096609" y="5686425"/>
            <a:ext cx="1270599" cy="27622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gyenes összekötő 37">
            <a:extLst>
              <a:ext uri="{FF2B5EF4-FFF2-40B4-BE49-F238E27FC236}">
                <a16:creationId xmlns:a16="http://schemas.microsoft.com/office/drawing/2014/main" id="{33BF6942-F253-7670-B102-81D0E53F8E6F}"/>
              </a:ext>
            </a:extLst>
          </p:cNvPr>
          <p:cNvCxnSpPr>
            <a:stCxn id="14" idx="7"/>
            <a:endCxn id="13" idx="2"/>
          </p:cNvCxnSpPr>
          <p:nvPr/>
        </p:nvCxnSpPr>
        <p:spPr>
          <a:xfrm flipV="1">
            <a:off x="8029654" y="4591050"/>
            <a:ext cx="1811468" cy="93373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gyenes összekötő 47">
            <a:extLst>
              <a:ext uri="{FF2B5EF4-FFF2-40B4-BE49-F238E27FC236}">
                <a16:creationId xmlns:a16="http://schemas.microsoft.com/office/drawing/2014/main" id="{CB13C98B-8DD8-6D15-1F17-C65770976AFC}"/>
              </a:ext>
            </a:extLst>
          </p:cNvPr>
          <p:cNvCxnSpPr>
            <a:stCxn id="13" idx="4"/>
            <a:endCxn id="15" idx="7"/>
          </p:cNvCxnSpPr>
          <p:nvPr/>
        </p:nvCxnSpPr>
        <p:spPr>
          <a:xfrm flipH="1">
            <a:off x="9757453" y="4819650"/>
            <a:ext cx="312269" cy="981355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ia számának helye 16">
            <a:extLst>
              <a:ext uri="{FF2B5EF4-FFF2-40B4-BE49-F238E27FC236}">
                <a16:creationId xmlns:a16="http://schemas.microsoft.com/office/drawing/2014/main" id="{E97C26D2-8CAE-22E5-40E4-BA5AC7E8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4FAB73BC-B049-4115-A692-8D63A059BFB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33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Nézet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TM03457515[[fn=Nézet]]</Template>
  <TotalTime>323</TotalTime>
  <Words>410</Words>
  <Application>Microsoft Office PowerPoint</Application>
  <PresentationFormat>Szélesvásznú</PresentationFormat>
  <Paragraphs>65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Century Schoolbook</vt:lpstr>
      <vt:lpstr>Aptos</vt:lpstr>
      <vt:lpstr>Wingdings 2</vt:lpstr>
      <vt:lpstr>Arial</vt:lpstr>
      <vt:lpstr>Nézet</vt:lpstr>
      <vt:lpstr>Stabil párosítási problémák megoldása Gráf Neurális Hálók segítségével</vt:lpstr>
      <vt:lpstr>A stabil párosítási probléma</vt:lpstr>
      <vt:lpstr>Gráf Neurális Hálók</vt:lpstr>
      <vt:lpstr>A munka kezdőállapota és a megoldás menete</vt:lpstr>
      <vt:lpstr>A tanító adathalmaz megalkotása</vt:lpstr>
      <vt:lpstr>Modell megalkotása</vt:lpstr>
      <vt:lpstr>Tanítás</vt:lpstr>
      <vt:lpstr>Tesztelés</vt:lpstr>
      <vt:lpstr>Eredmények és értelmezéseik</vt:lpstr>
      <vt:lpstr>További tervek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YOINK WIDEHARD</dc:creator>
  <cp:lastModifiedBy>YOINK WIDEHARD</cp:lastModifiedBy>
  <cp:revision>70</cp:revision>
  <dcterms:created xsi:type="dcterms:W3CDTF">2026-05-21T10:22:45Z</dcterms:created>
  <dcterms:modified xsi:type="dcterms:W3CDTF">2026-05-21T15:54:12Z</dcterms:modified>
</cp:coreProperties>
</file>